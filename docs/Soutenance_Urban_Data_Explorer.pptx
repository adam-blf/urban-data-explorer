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64592" cy="146304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4F6FB"/>
                </a:solidFill>
                <a:latin typeface="Helvetica"/>
              </a:rPr>
              <a:t>Urban Data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AAB2CC"/>
                </a:solidFill>
                <a:latin typeface="Helvetica"/>
              </a:rPr>
              <a:t>Plateforme open data Paris · pipeline médaillon, API REST sécurisée
et dashboard cartographique du logement parisien.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D166"/>
                </a:solidFill>
                <a:latin typeface="Helvetica"/>
              </a:rPr>
              <a:t>ADAM BELOUCIF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6D6A0"/>
                </a:solidFill>
                <a:latin typeface="Helvetica"/>
              </a:rPr>
              <a:t>EMILIEN MORICE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AB2CC"/>
                </a:solidFill>
                <a:latin typeface="Helvetica"/>
              </a:rPr>
              <a:t>M1 Data Engineering &amp; IA · EFREI Paris · Architecture de Données · 2026</a:t>
            </a:r>
          </a:p>
        </p:txBody>
      </p:sp>
      <p:pic>
        <p:nvPicPr>
          <p:cNvPr id="9" name="Picture 8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502920"/>
            <a:ext cx="255284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F476F"/>
                </a:solidFill>
                <a:latin typeface="Helvetica"/>
              </a:rPr>
              <a:t>01 ·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4F6FB"/>
                </a:solidFill>
                <a:latin typeface="Helvetica"/>
              </a:rPr>
              <a:t>Paris, marché du logement
fragmenté, illisible.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D166"/>
                </a:solidFill>
                <a:latin typeface="Helvetica"/>
              </a:rPr>
              <a:t>&gt; 10 000 €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prix m² médian intra-muros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4290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6D6A0"/>
                </a:solidFill>
                <a:latin typeface="Helvetica"/>
              </a:rPr>
              <a:t>17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1605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données ouvertes hétérogènes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3291840"/>
            <a:ext cx="3474720" cy="146304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4290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F476F"/>
                </a:solidFill>
                <a:latin typeface="Helvetica"/>
              </a:rPr>
              <a:t>20 arr.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1605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réalités économiques différentes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4F6FB"/>
                </a:solidFill>
                <a:latin typeface="Helvetica"/>
              </a:rPr>
              <a:t>Comment lire le marché du logement à l'échelle de l'arrondissement
en un seul écran, croisé avec revenus, équipements, environnement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2 / 12</a:t>
            </a:r>
          </a:p>
        </p:txBody>
      </p:sp>
      <p:pic>
        <p:nvPicPr>
          <p:cNvPr id="18" name="Picture 17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02 · LA RÉPONSE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4F6FB"/>
                </a:solidFill>
                <a:latin typeface="Helvetica"/>
              </a:rPr>
              <a:t>Médaillon · API ·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AB2CC"/>
                </a:solidFill>
                <a:latin typeface="Helvetica"/>
              </a:rPr>
              <a:t>Une plateforme complète, du pipeline d'ingestion à la carto interactive.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D166"/>
                </a:solidFill>
                <a:latin typeface="Helvetica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sources de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data.gouv · OpenData Paris · INSEE · Airparif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D6A0"/>
                </a:solidFill>
                <a:latin typeface="Helvetic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indicateurs composites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accessibilité · tension · effort social · attractivité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F476F"/>
                </a:solidFill>
                <a:latin typeface="Helvetic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niveaux cartographiques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choroplèthe · POI · timeline · comparaison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65760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8AB2"/>
                </a:solidFill>
                <a:latin typeface="Helvetica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617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F6FB"/>
                </a:solidFill>
                <a:latin typeface="Helvetica"/>
              </a:rPr>
              <a:t>commits granulaires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9834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AB2CC"/>
                </a:solidFill>
                <a:latin typeface="Helvetica"/>
              </a:rPr>
              <a:t>alternance Adam / Emilien · doc + ADRs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3 / 12</a:t>
            </a:r>
          </a:p>
        </p:txBody>
      </p:sp>
      <p:pic>
        <p:nvPicPr>
          <p:cNvPr id="25" name="Picture 24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4F6FB"/>
                </a:solidFill>
                <a:latin typeface="Helvetica"/>
              </a:rPr>
              <a:t>Pipeline médaillon · Bronze → Silver → Gold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BRONZE /raw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74519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Snapshot brut versionné Parquet partitionné year/month/day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402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feeder.py · CLI paramétrable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SILVER /silver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889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Cleaning + 6 règles validation + jointure spatiale +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546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processor.py · Polars + Shapely +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GOLD /gold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033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DuckDB relationnel · dim, facts, KPI,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690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datamart.py · 4 indicateurs composites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6177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FastAPI 0.115 · JWT · pagination · filtres typés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9834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uvicorn :8000 · OpenAPI auto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737360" cy="7772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020"/>
                </a:solidFill>
                <a:latin typeface="Helvetica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53212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Helvetica"/>
              </a:rPr>
              <a:t>MapLibre + Chart.js · 4 niveaux d'info · timeline · comparaison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89788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ESM via CDN · zéro build · déployable Vercel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4 / 12</a:t>
            </a:r>
          </a:p>
        </p:txBody>
      </p:sp>
      <p:pic>
        <p:nvPicPr>
          <p:cNvPr id="28" name="Picture 27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04 · SOURCES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17 datasets ouverts, &gt; 350 000 enregistrements.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1338560" cy="457200"/>
          </a:xfrm>
          <a:prstGeom prst="roundRect">
            <a:avLst>
              <a:gd name="adj" fmla="val 4000"/>
            </a:avLst>
          </a:prstGeom>
          <a:solidFill>
            <a:srgbClr val="1A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CATÉGORIE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556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7556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7556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94560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DVF géolocalisé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194560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 (DGFiP)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~250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41448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41448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Logements sociaux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41448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41448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~5 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70048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88336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688336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Filosofi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88336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INSEE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8833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1 / commune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935224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Cœur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935224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Arrondissements GeoJSON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935224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93522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20 polygones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82112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Environnement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182112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Qualité air Airparif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182112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18211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~30 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42900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Transport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429000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Vélib stations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429000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42900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~1 400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599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675887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3675887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Belib bornes IRVE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675887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67588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~600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922775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Transport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922775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Aménagements cyclables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3922775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3922775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~12 000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51375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69663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Service public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4169663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Écoles élémentaires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169663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169663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416551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Service public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4416551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Collèges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4416551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4416551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645151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663439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Service public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0" y="4663439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Sanisettes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60" y="4663439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4663439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910327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Commerce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4910327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Marchés découverts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2160" y="4910327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491032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138927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157215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Culture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0" y="5157215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Que faire à Paris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5157215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5157215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~10 000 / 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404103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Culture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0" y="5404103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Musées de France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5404103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5404103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~150 IDF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632703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650991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Culture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60320" y="5650991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Monuments historiques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5650991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5650991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~3 800 IDF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897879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Santé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0320" y="5897879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Hôpitaux IDF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60" y="5897879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data.gouv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09760" y="5897879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~370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6126479"/>
            <a:ext cx="11338560" cy="265176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6144767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Environnement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60320" y="6144767"/>
            <a:ext cx="3200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Espaces verts publics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52160" y="6144767"/>
            <a:ext cx="35661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4F6FB"/>
                </a:solidFill>
                <a:latin typeface="Helvetica"/>
              </a:rPr>
              <a:t>OpenData Paris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09760" y="614476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6D6A0"/>
                </a:solidFill>
                <a:latin typeface="Helvetica"/>
              </a:rPr>
              <a:t>~3 000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5 / 12</a:t>
            </a:r>
          </a:p>
        </p:txBody>
      </p:sp>
      <p:pic>
        <p:nvPicPr>
          <p:cNvPr id="90" name="Picture 89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05 · 4 INDICATEURS COMPOSITES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Helvetica"/>
              </a:rPr>
              <a:t>Force de proposition · z-scores et formules métier.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166"/>
                </a:solidFill>
                <a:latin typeface="Courier New"/>
              </a:rPr>
              <a:t>idx_accessibilite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revenu_median / (prix_m2 × 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&gt; 0.6 = accessible
&lt; 0.3 = très tendu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6D6A0"/>
                </a:solidFill>
                <a:latin typeface="Courier New"/>
              </a:rPr>
              <a:t>idx_tension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transactions_an × 1000 / parc_logements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54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rotation pour 1 000
logements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F476F"/>
                </a:solidFill>
                <a:latin typeface="Courier New"/>
              </a:rPr>
              <a:t>idx_effort_social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log_sociaux × 10 000 / 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unités sociales pour
10 000 habitants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11480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4114800"/>
            <a:ext cx="137160" cy="2103120"/>
          </a:xfrm>
          <a:prstGeom prst="roundRect">
            <a:avLst>
              <a:gd name="adj" fmla="val 4000"/>
            </a:avLst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97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8AB2"/>
                </a:solidFill>
                <a:latin typeface="Courier New"/>
              </a:rPr>
              <a:t>idx_attractivite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FORMULE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F6FB"/>
                </a:solidFill>
                <a:latin typeface="Courier New"/>
              </a:rPr>
              <a:t>0.30·z(access) + 0.40·z(POI) + 0.15·z(effort) − 0.15·z(tension)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440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AB2CC"/>
                </a:solidFill>
                <a:latin typeface="Helvetica"/>
              </a:rPr>
              <a:t>LECTURE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715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4F6FB"/>
                </a:solidFill>
                <a:latin typeface="Helvetica"/>
              </a:rPr>
              <a:t>z-score composite
0 = moyenne Paris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6 / 12</a:t>
            </a:r>
          </a:p>
        </p:txBody>
      </p:sp>
      <p:pic>
        <p:nvPicPr>
          <p:cNvPr id="36" name="Picture 35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06 · PIPELINE MÉDAILLON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Idempotent · paramétrable · loggué.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47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Partitionnement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year=YYYY/month=MM/day=DD sur Bronze + Silver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328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CLI sans hardcode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Settings pydantic depuis .env · 0 chemin codé en dur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186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661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6 règles métier sur DVF · log des rejets par règle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04487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Jointure spatiale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Shapely point-in-polygon sur GeoJSON arrondissements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902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Window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37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MEDIAN OVER · RANK OVER · LAG OVER pour delta MoM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57800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1020"/>
                </a:solidFill>
                <a:latin typeface="Helvetic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276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4F6FB"/>
                </a:solidFill>
                <a:latin typeface="Helvetica"/>
              </a:rPr>
              <a:t>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235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Polars cache() sur Silver DVF · équivalent persist Spark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1828800"/>
            <a:ext cx="4023360" cy="384048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D166"/>
                </a:solidFill>
                <a:latin typeface="Helvetica"/>
              </a:rPr>
              <a:t>EXEMPLE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286000"/>
            <a:ext cx="3657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6D6A0"/>
                </a:solidFill>
                <a:latin typeface="Courier New"/>
              </a:rPr>
              <a:t>$ python -m pipeline.feeder \
      --source dvf --year 2024
$ python -m pipeline.processor \
      --source dvf
$ python -m pipeline.datamart \
      --build all
→ /raw/dvf/year=2024/...
→ /silver/dvf/...
→ /gold/urban.duckdb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7 / 12</a:t>
            </a:r>
          </a:p>
        </p:txBody>
      </p:sp>
      <p:pic>
        <p:nvPicPr>
          <p:cNvPr id="35" name="Picture 34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07 · API REST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JWT · pagination · filtres · OpenAPI auto.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92807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/auth/login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username/password →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AAB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7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7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liveness +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81527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6323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/datamarts/arrondissements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0632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KPI · pagination · filtres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79"/>
            <a:ext cx="640080" cy="41148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75887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5759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/datamarts/timeline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65759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série mensuelle prix m²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7024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5195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/datamarts/indicators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519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4 indicateurs pivotés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6460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463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/geo/arrondissements.geojson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846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fond enrichi des KPI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94960"/>
            <a:ext cx="640080" cy="41148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58968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B1020"/>
                </a:solidFill>
                <a:latin typeface="Helvetica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406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4F6FB"/>
                </a:solidFill>
                <a:latin typeface="Courier New"/>
              </a:rPr>
              <a:t>/geo/poi.geojson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40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POI filtrables par catégorie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8 / 12</a:t>
            </a:r>
          </a:p>
        </p:txBody>
      </p:sp>
      <p:pic>
        <p:nvPicPr>
          <p:cNvPr id="36" name="Picture 35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08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MapLibre + Chart.js · 4 niveaux d'information.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D166"/>
                </a:solidFill>
                <a:latin typeface="Helvetic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Choroplèthe par arrondissement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Indicateur sélectionnable · interpolation continue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54679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6D6A0"/>
                </a:solidFill>
                <a:latin typeface="Helvetic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08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Couches POI activables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2043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Transport · services publics · commerce · culture · santé · environnement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EF476F"/>
                </a:solidFill>
                <a:latin typeface="Helvetic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Timeline mensuelle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617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Slider qui repaint la carte en direct (2019-2024)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12079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18AB2"/>
                </a:solidFill>
                <a:latin typeface="Helvetic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03519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4F6FB"/>
                </a:solidFill>
                <a:latin typeface="Helvetica"/>
              </a:rPr>
              <a:t>Mode comparaison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71499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Radar 5 dimensions entre 2 arrondissements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9 / 12</a:t>
            </a:r>
          </a:p>
        </p:txBody>
      </p:sp>
      <p:pic>
        <p:nvPicPr>
          <p:cNvPr id="24" name="Picture 23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09 · CHOIX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F6FB"/>
                </a:solidFill>
                <a:latin typeface="Helvetica"/>
              </a:rPr>
              <a:t>5 ADRs documentés.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74519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Polars + DuckDB &gt;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40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Volume cible (~250 k DVF + 50 k POI) tient en RAM · 5× plus léger, démarrage instant.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889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Partitionnement year/month/day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Idempotence stricte · replays sans doublons.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03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Indicateurs en z-score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69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Comparable, lisible, robuste à l'évolution mensuelle.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617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DuckDB read-only par requête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83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Pas de pool · lecture concurrente sécurisée.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86400"/>
            <a:ext cx="1188720" cy="7772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B1020"/>
                </a:solidFill>
                <a:latin typeface="Helvetica"/>
              </a:rPr>
              <a:t>ADR-005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532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F6FB"/>
                </a:solidFill>
                <a:latin typeface="Helvetica"/>
              </a:rPr>
              <a:t>Frontend statique CDN-only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897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AB2CC"/>
                </a:solidFill>
                <a:latin typeface="Helvetica"/>
              </a:rPr>
              <a:t>Démo en 5 min sur n'importe quel host · pas de bundler.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10 / 12</a:t>
            </a:r>
          </a:p>
        </p:txBody>
      </p:sp>
      <p:pic>
        <p:nvPicPr>
          <p:cNvPr id="28" name="Picture 27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64592" cy="320040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4F6FB"/>
                </a:solidFill>
                <a:latin typeface="Helvetica"/>
              </a:rPr>
              <a:t>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6D6A0"/>
                </a:solidFill>
                <a:latin typeface="Helvetica"/>
              </a:rPr>
              <a:t>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AB2CC"/>
                </a:solidFill>
                <a:latin typeface="Helvetica"/>
              </a:rPr>
              <a:t>Exécution du pipeline · API en route · dashboard interactif.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11 / 12</a:t>
            </a:r>
          </a:p>
        </p:txBody>
      </p:sp>
      <p:pic>
        <p:nvPicPr>
          <p:cNvPr id="10" name="Picture 9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D166"/>
                </a:solidFill>
                <a:latin typeface="Helvetica"/>
              </a:rPr>
              <a:t>10 · ÉQUIPE &amp;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4F6FB"/>
                </a:solidFill>
                <a:latin typeface="Helvetica"/>
              </a:rPr>
              <a:t>Merci.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AAB2CC"/>
                </a:solidFill>
                <a:latin typeface="Helvetica"/>
              </a:rPr>
              <a:t>Questions, retours, démo approfondie.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137160" cy="1280160"/>
          </a:xfrm>
          <a:prstGeom prst="roundRect">
            <a:avLst>
              <a:gd name="adj" fmla="val 4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Helvetica"/>
              </a:rPr>
              <a:t>Adam Beloucif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D166"/>
                </a:solidFill>
                <a:latin typeface="Courier New"/>
              </a:rPr>
              <a:t>@Adam-Blf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Data Engineer · M1 EFREI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137160" cy="1280160"/>
          </a:xfrm>
          <a:prstGeom prst="roundRect">
            <a:avLst>
              <a:gd name="adj" fmla="val 4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251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Helvetica"/>
              </a:rPr>
              <a:t>Emilien Morice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09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6D6A0"/>
                </a:solidFill>
                <a:latin typeface="Courier New"/>
              </a:rPr>
              <a:t>@emilien754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83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B2CC"/>
                </a:solidFill>
                <a:latin typeface="Helvetica"/>
              </a:rPr>
              <a:t>Data Engineer · M1 EFREI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6D6A0"/>
                </a:solidFill>
                <a:latin typeface="Courier New"/>
              </a:rPr>
              <a:t>github.com/Adam-Blf/urban-data-explorer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11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Urban Data Explorer · Adam Beloucif · Emilien Morice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AB2CC"/>
                </a:solidFill>
                <a:latin typeface="Helvetica"/>
              </a:rPr>
              <a:t>12 / 12</a:t>
            </a:r>
          </a:p>
        </p:txBody>
      </p:sp>
      <p:pic>
        <p:nvPicPr>
          <p:cNvPr id="20" name="Picture 19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5" y="6583680"/>
            <a:ext cx="63821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