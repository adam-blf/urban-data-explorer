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[~0:30] Accroche : Paris, le logement, des donnees dispersees. On a construit l'observatoire qui les reunit.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[~0:20] Plan rapide. Annoncer la demo live a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Probleme metier + chiffres cles (24 sources, 20 arrondissements). Pourquoi une gouvernance en a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Le voyage de la donnee : Bronze/Silver/Gold, Polars, puis API et carte. Insister sur le bout-en-bout.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Sources : 24, equilibrees. Surtout : prix DVF et revenus INSEE REELS. Geocodage hors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[~0:40] C1.1 : etoile PostgreSQL + tests de charge (1190 req/s, p95 3,5 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[~0:30] C1.2 : Cassandra pour le flux, tri par date, purge 7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[~0:40] C1.3/C1.4 : Data Lake Parquet, Docker, healthchecks, volumes persistants, local-first.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C2.1 : API FastAPI, auth JWT + quotas par IP. Montrer /docs en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[~0:30] C2.2 : Kafka temps reel vers Cassandra.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[~0:40] C2.3/C2.4 : fusion sources reelles, Parquet, index, qualite tracee.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[~0:40] Indicateurs Gold dont l'accessibilite prix/revenus (KPI demande).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DEMO LIVE : carte, choix d'un arrondissement, comparaison, theme sombre.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[Annexe] Accessibilite / theme sombre si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[~0:30] Grille : on coche C1.1 a C2.4.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[~0:30] Conclusion : solution complete, reelle, soignee. Merci.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640080"/>
            <a:ext cx="164592" cy="50292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" y="640080"/>
            <a:ext cx="16459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6424" y="640080"/>
            <a:ext cx="164592" cy="50292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603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61616"/>
                </a:solidFill>
                <a:latin typeface="Arial"/>
              </a:rPr>
              <a:t>RÉPUBLIQUE FRANÇAISE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6666"/>
                </a:solidFill>
                <a:latin typeface="Arial"/>
              </a:rPr>
              <a:t>Données ouvertes · Ville de Paris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5200" b="1">
                <a:solidFill>
                  <a:srgbClr val="000091"/>
                </a:solidFill>
                <a:latin typeface="Arial"/>
              </a:rPr>
              <a:t>Urban Data Explorer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400" b="0">
                <a:solidFill>
                  <a:srgbClr val="3A3A3A"/>
                </a:solidFill>
                <a:latin typeface="Arial"/>
              </a:rPr>
              <a:t>Observatoire socio-urbain de Paris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2926080" cy="3810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Architecture de stockage et de traitement de données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RNCP40875 · Bloc 1 · Expert en Ingénierie des Données · Certificateur Efrei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Adam Beloucif &amp; Émilien Morice · Soutenance 2026</a:t>
            </a:r>
          </a:p>
        </p:txBody>
      </p:sp>
      <p:pic>
        <p:nvPicPr>
          <p:cNvPr id="10" name="Picture 9" descr="efrei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48640"/>
            <a:ext cx="2286000" cy="114338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65392"/>
            <a:ext cx="8503920" cy="29260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6565392"/>
            <a:ext cx="3703320" cy="292608"/>
          </a:xfrm>
          <a:prstGeom prst="rect">
            <a:avLst/>
          </a:prstGeom>
          <a:solidFill>
            <a:srgbClr val="148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PLAN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Sommaire de la soutenance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1. </a:t>
            </a:r>
            <a:r>
              <a:rPr sz="1600" b="0">
                <a:solidFill>
                  <a:srgbClr val="3A3A3A"/>
                </a:solidFill>
                <a:latin typeface="Arial"/>
              </a:rPr>
              <a:t>Contexte &amp; besoin de gouvernance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2. </a:t>
            </a:r>
            <a:r>
              <a:rPr sz="1600" b="0">
                <a:solidFill>
                  <a:srgbClr val="3A3A3A"/>
                </a:solidFill>
                <a:latin typeface="Arial"/>
              </a:rPr>
              <a:t>Architecture médaillon (Bronze/Silver/Gold)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3. </a:t>
            </a:r>
            <a:r>
              <a:rPr sz="1600" b="0">
                <a:solidFill>
                  <a:srgbClr val="3A3A3A"/>
                </a:solidFill>
                <a:latin typeface="Arial"/>
              </a:rPr>
              <a:t>83 sources · 4 familles · OSM Overpass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4. </a:t>
            </a:r>
            <a:r>
              <a:rPr sz="1600" b="0">
                <a:solidFill>
                  <a:srgbClr val="3A3A3A"/>
                </a:solidFill>
                <a:latin typeface="Arial"/>
              </a:rPr>
              <a:t>C1.1 · Base relationnelle &amp; tests de charge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5. </a:t>
            </a:r>
            <a:r>
              <a:rPr sz="1600" b="0">
                <a:solidFill>
                  <a:srgbClr val="3A3A3A"/>
                </a:solidFill>
                <a:latin typeface="Arial"/>
              </a:rPr>
              <a:t>C1.2 · Base NoSQL Cassandra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6. </a:t>
            </a:r>
            <a:r>
              <a:rPr sz="1600" b="0">
                <a:solidFill>
                  <a:srgbClr val="3A3A3A"/>
                </a:solidFill>
                <a:latin typeface="Arial"/>
              </a:rPr>
              <a:t>C1.3 / C1.4 · Data Lake, scalabilité, résilience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7. </a:t>
            </a:r>
            <a:r>
              <a:rPr sz="1600" b="0">
                <a:solidFill>
                  <a:srgbClr val="3A3A3A"/>
                </a:solidFill>
                <a:latin typeface="Arial"/>
              </a:rPr>
              <a:t>C2.1 · API REST FastAPI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8. </a:t>
            </a:r>
            <a:r>
              <a:rPr sz="1600" b="0">
                <a:solidFill>
                  <a:srgbClr val="3A3A3A"/>
                </a:solidFill>
                <a:latin typeface="Arial"/>
              </a:rPr>
              <a:t>C2.2 · Streaming Kafka temps réel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9. </a:t>
            </a:r>
            <a:r>
              <a:rPr sz="1600" b="0">
                <a:solidFill>
                  <a:srgbClr val="3A3A3A"/>
                </a:solidFill>
                <a:latin typeface="Arial"/>
              </a:rPr>
              <a:t>C2.3 / C2.4 · Transformation &amp; optimisation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10. </a:t>
            </a:r>
            <a:r>
              <a:rPr sz="1600" b="0">
                <a:solidFill>
                  <a:srgbClr val="3A3A3A"/>
                </a:solidFill>
                <a:latin typeface="Arial"/>
              </a:rPr>
              <a:t>Indicateurs Gold &amp; score de synthèse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11. </a:t>
            </a:r>
            <a:r>
              <a:rPr sz="1600" b="0">
                <a:solidFill>
                  <a:srgbClr val="3A3A3A"/>
                </a:solidFill>
                <a:latin typeface="Arial"/>
              </a:rPr>
              <a:t>Interface DSFR &amp; accessibilité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0091"/>
                </a:solidFill>
                <a:latin typeface="Arial"/>
              </a:rPr>
              <a:t>▪  </a:t>
            </a:r>
            <a:r>
              <a:rPr sz="1600" b="1">
                <a:solidFill>
                  <a:srgbClr val="161616"/>
                </a:solidFill>
                <a:latin typeface="Arial"/>
              </a:rPr>
              <a:t>12. </a:t>
            </a:r>
            <a:r>
              <a:rPr sz="1600" b="0">
                <a:solidFill>
                  <a:srgbClr val="3A3A3A"/>
                </a:solidFill>
                <a:latin typeface="Arial"/>
              </a:rPr>
              <a:t>Conformité grille RNCP &amp;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CONTEXTE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Besoin de gouvernance urbaine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Problème métier : </a:t>
            </a:r>
            <a:r>
              <a:rPr sz="1500" b="0">
                <a:solidFill>
                  <a:srgbClr val="3A3A3A"/>
                </a:solidFill>
                <a:latin typeface="Arial"/>
              </a:rPr>
              <a:t>les données urbaines de Paris (logement, mobilité, revenus, cadre de vie) sont dispersées sur des dizaines de jeux Open Data hétérogènes.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Besoin gouvernance : </a:t>
            </a:r>
            <a:r>
              <a:rPr sz="1500" b="0">
                <a:solidFill>
                  <a:srgbClr val="3A3A3A"/>
                </a:solidFill>
                <a:latin typeface="Arial"/>
              </a:rPr>
              <a:t>disposer d'un observatoire unique, comparatif et cartographique pour éclairer les décisions d'aménagement par arrondissement.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Réponse : </a:t>
            </a:r>
            <a:r>
              <a:rPr sz="1500" b="0">
                <a:solidFill>
                  <a:srgbClr val="3A3A3A"/>
                </a:solidFill>
                <a:latin typeface="Arial"/>
              </a:rPr>
              <a:t>une solution complète d'architecture de données · ingestion, stockage relationnel + NoSQL, Data Lake, API et restitution cartographique.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Cadre : </a:t>
            </a:r>
            <a:r>
              <a:rPr sz="1500" b="0">
                <a:solidFill>
                  <a:srgbClr val="3A3A3A"/>
                </a:solidFill>
                <a:latin typeface="Arial"/>
              </a:rPr>
              <a:t>validation des compétences C1.1 à C2.4 du Bloc 1 (architecture de stockage et de traitement).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54480"/>
            <a:ext cx="3703320" cy="420624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91440" cy="42062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CHIFFRES CLÉS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00091"/>
                </a:solidFill>
                <a:latin typeface="Arial"/>
              </a:rPr>
              <a:t>83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sources de données intégrées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00091"/>
                </a:solidFill>
                <a:latin typeface="Arial"/>
              </a:rPr>
              <a:t>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familles thématiques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00091"/>
                </a:solidFill>
                <a:latin typeface="Arial"/>
              </a:rPr>
              <a:t>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arrondissements analysés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00091"/>
                </a:solidFill>
                <a:latin typeface="Arial"/>
              </a:rPr>
              <a:t>118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tests pytest verts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ARCHITECTURE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Pipeline médaillon de bout en bout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2468880" cy="1463040"/>
          </a:xfrm>
          <a:prstGeom prst="rect">
            <a:avLst/>
          </a:prstGeom>
          <a:solidFill>
            <a:srgbClr val="E3E3FD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616"/>
                </a:solidFill>
                <a:latin typeface="Arial"/>
              </a:rPr>
              <a:t>BRONZE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616"/>
                </a:solidFill>
                <a:latin typeface="Arial"/>
              </a:rPr>
              <a:t>Open Data brut
Parquet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2468880" cy="1463040"/>
          </a:xfrm>
          <a:prstGeom prst="rect">
            <a:avLst/>
          </a:prstGeom>
          <a:solidFill>
            <a:srgbClr val="B1B1F9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74519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616"/>
                </a:solidFill>
                <a:latin typeface="Arial"/>
              </a:rPr>
              <a:t>SILVER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616"/>
                </a:solidFill>
                <a:latin typeface="Arial"/>
              </a:rPr>
              <a:t>Normalisé + géocodé
Parquet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2468880" cy="1463040"/>
          </a:xfrm>
          <a:prstGeom prst="rect">
            <a:avLst/>
          </a:prstGeom>
          <a:solidFill>
            <a:srgbClr val="000091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21945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GOLD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Datamarts
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3756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A3A3A"/>
                </a:solidFill>
                <a:latin typeface="Arial"/>
              </a:rPr>
              <a:t>Polars (moteur Rust) →  jointures spatiales IRIS  →  schéma en étoile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6070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Ingestion : </a:t>
            </a:r>
            <a:r>
              <a:rPr sz="1400" b="0">
                <a:solidFill>
                  <a:srgbClr val="3A3A3A"/>
                </a:solidFill>
                <a:latin typeface="Arial"/>
              </a:rPr>
              <a:t>ETL batch Polars (Bronze→Silver→Gold) + collecte temps réel Kafka.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Stockage : </a:t>
            </a:r>
            <a:r>
              <a:rPr sz="1400" b="0">
                <a:solidFill>
                  <a:srgbClr val="3A3A3A"/>
                </a:solidFill>
                <a:latin typeface="Arial"/>
              </a:rPr>
              <a:t>PostgreSQL (relationnel étoile), Cassandra (NoSQL événements), Data Lake HDFS/Parquet.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Exposition : </a:t>
            </a:r>
            <a:r>
              <a:rPr sz="1400" b="0">
                <a:solidFill>
                  <a:srgbClr val="3A3A3A"/>
                </a:solidFill>
                <a:latin typeface="Arial"/>
              </a:rPr>
              <a:t>API REST FastAPI documentée (Swagger /docs) → frontend React/TypeScript MapLibre (2D IGN) + Mapbox (3D).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Orchestration : </a:t>
            </a:r>
            <a:r>
              <a:rPr sz="1400" b="0">
                <a:solidFill>
                  <a:srgbClr val="3A3A3A"/>
                </a:solidFill>
                <a:latin typeface="Arial"/>
              </a:rPr>
              <a:t>Docker Compose multi-services (11 conteneurs, profils streaming &amp; lake).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DONNÉES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Sources Open Data &amp; géocodage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83 sources, 4 familles : </a:t>
            </a:r>
            <a:r>
              <a:rPr sz="1400" b="0">
                <a:solidFill>
                  <a:srgbClr val="3A3A3A"/>
                </a:solidFill>
                <a:latin typeface="Arial"/>
              </a:rPr>
              <a:t>mobilité (17), vie quotidienne (42), environnement (12), logement &amp; urbanisme (12). 30 sources OSM Overpass.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Sources réelles : </a:t>
            </a:r>
            <a:r>
              <a:rPr sz="1400" b="0">
                <a:solidFill>
                  <a:srgbClr val="3A3A3A"/>
                </a:solidFill>
                <a:latin typeface="Arial"/>
              </a:rPr>
              <a:t>DVF 2023 (prix immobilier) et INSEE Filosofi 2020 (revenus) alimentent le cœur logement.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Géocodage offline : </a:t>
            </a:r>
            <a:r>
              <a:rPr sz="1400" b="0">
                <a:solidFill>
                  <a:srgbClr val="3A3A3A"/>
                </a:solidFill>
                <a:latin typeface="Arial"/>
              </a:rPr>
              <a:t>point-in-polygon (ray-casting) sur les contours IRIS, sans appel réseau ; fallback API adresse.data.gouv.fr.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Qualité tracée : </a:t>
            </a:r>
            <a:r>
              <a:rPr sz="1400" b="0">
                <a:solidFill>
                  <a:srgbClr val="3A3A3A"/>
                </a:solidFill>
                <a:latin typeface="Arial"/>
              </a:rPr>
              <a:t>drapeaux quality_flag (rattachement) et data_source (réel / référence).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54480"/>
            <a:ext cx="3703320" cy="4206240"/>
          </a:xfrm>
          <a:prstGeom prst="rect">
            <a:avLst/>
          </a:prstGeom>
          <a:solidFill>
            <a:srgbClr val="F6F6F6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91440" cy="420624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828800"/>
            <a:ext cx="3200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66666"/>
                </a:solidFill>
                <a:latin typeface="Arial"/>
              </a:rPr>
              <a:t>RÉPARTITION PAR FAMILLE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1616"/>
                </a:solidFill>
                <a:latin typeface="Arial"/>
              </a:rPr>
              <a:t>Mobilité</a:t>
            </a:r>
            <a:r>
              <a:rPr sz="1300" b="0">
                <a:solidFill>
                  <a:srgbClr val="3A3A3A"/>
                </a:solidFill>
                <a:latin typeface="Arial"/>
              </a:rPr>
              <a:t>   17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1616"/>
                </a:solidFill>
                <a:latin typeface="Arial"/>
              </a:rPr>
              <a:t>Vie quotidienne</a:t>
            </a:r>
            <a:r>
              <a:rPr sz="1300" b="0">
                <a:solidFill>
                  <a:srgbClr val="3A3A3A"/>
                </a:solidFill>
                <a:latin typeface="Arial"/>
              </a:rPr>
              <a:t>   42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1616"/>
                </a:solidFill>
                <a:latin typeface="Arial"/>
              </a:rPr>
              <a:t>Environnement</a:t>
            </a:r>
            <a:r>
              <a:rPr sz="1300" b="0">
                <a:solidFill>
                  <a:srgbClr val="3A3A3A"/>
                </a:solidFill>
                <a:latin typeface="Arial"/>
              </a:rPr>
              <a:t>   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61616"/>
                </a:solidFill>
                <a:latin typeface="Arial"/>
              </a:rPr>
              <a:t>Logement &amp; urbanisme</a:t>
            </a:r>
            <a:r>
              <a:rPr sz="1300" b="0">
                <a:solidFill>
                  <a:srgbClr val="3A3A3A"/>
                </a:solidFill>
                <a:latin typeface="Arial"/>
              </a:rPr>
              <a:t>   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dont OSM Overpass</a:t>
            </a:r>
            <a:r>
              <a:rPr sz="1300" b="0">
                <a:solidFill>
                  <a:srgbClr val="666666"/>
                </a:solidFill>
                <a:latin typeface="Arial"/>
              </a:rPr>
              <a:t>  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C1.1 · BASE RELATIONNELLE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Schéma en étoile &amp; tests de 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4864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Modèle en étoile : </a:t>
            </a:r>
            <a:r>
              <a:rPr sz="1400" b="0">
                <a:solidFill>
                  <a:srgbClr val="3A3A3A"/>
                </a:solidFill>
                <a:latin typeface="Arial"/>
              </a:rPr>
              <a:t>fact_arrondissement_dashboard relié à dim_arrondissement / dim_iris.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Intégrité : </a:t>
            </a:r>
            <a:r>
              <a:rPr sz="1400" b="0">
                <a:solidFill>
                  <a:srgbClr val="3A3A3A"/>
                </a:solidFill>
                <a:latin typeface="Arial"/>
              </a:rPr>
              <a:t>clés primaires, clés étrangères, contraintes NOT NULL, normalisation.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Index de performance : </a:t>
            </a:r>
            <a:r>
              <a:rPr sz="1400" b="0">
                <a:solidFill>
                  <a:srgbClr val="3A3A3A"/>
                </a:solidFill>
                <a:latin typeface="Arial"/>
              </a:rPr>
              <a:t>sur clés étrangères et indices d'attractivité (Index Scan).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PostgreSQL 15 </a:t>
            </a:r>
            <a:r>
              <a:rPr sz="1400" b="0">
                <a:solidFill>
                  <a:srgbClr val="3A3A3A"/>
                </a:solidFill>
                <a:latin typeface="Arial"/>
              </a:rPr>
              <a:t>(conteneur Docker).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645920"/>
          <a:ext cx="48920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8308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Métrique (bench concurrent)</a:t>
                      </a:r>
                    </a:p>
                  </a:txBody>
                  <a:tcPr marL="101600" marR="76200" marT="38100" marB="38100" anchor="ctr"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Valeur</a:t>
                      </a:r>
                    </a:p>
                  </a:txBody>
                  <a:tcPr marL="101600" marR="76200" marT="38100" marB="38100" anchor="ctr">
                    <a:solidFill>
                      <a:srgbClr val="00009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Requêtes réussies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500 / 500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Débit moyen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1 190 req/s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Latence moyenne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1,80 ms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Latence p95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3,50 ms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Intégrité référentielle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3/3 PASSED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C1.2 · BASE NOSQL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Cassandra pour les événements de streaming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64008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Choix justifié : </a:t>
            </a:r>
            <a:r>
              <a:rPr sz="1400" b="0">
                <a:solidFill>
                  <a:srgbClr val="3A3A3A"/>
                </a:solidFill>
                <a:latin typeface="Arial"/>
              </a:rPr>
              <a:t>Cassandra pour des écritures massives, append-only, orientées requêtes · adapté aux flux d'événements semi-structurés.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Modélisation orientée requêtes : </a:t>
            </a:r>
            <a:r>
              <a:rPr sz="1400" b="0">
                <a:solidFill>
                  <a:srgbClr val="3A3A3A"/>
                </a:solidFill>
                <a:latin typeface="Arial"/>
              </a:rPr>
              <a:t>table events_by_type partitionnée par event_type.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Tri chronologique : </a:t>
            </a:r>
            <a:r>
              <a:rPr sz="1400" b="0">
                <a:solidFill>
                  <a:srgbClr val="3A3A3A"/>
                </a:solidFill>
                <a:latin typeface="Arial"/>
              </a:rPr>
              <a:t>CLUSTERING ORDER BY event_time DESC pour servir les événements récents.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Cycle de vie : </a:t>
            </a:r>
            <a:r>
              <a:rPr sz="1400" b="0">
                <a:solidFill>
                  <a:srgbClr val="3A3A3A"/>
                </a:solidFill>
                <a:latin typeface="Arial"/>
              </a:rPr>
              <a:t>TTL de 604 800 s (7 jours) · purge automatique des snapshots.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Complémentarité SQL/NoSQL : </a:t>
            </a:r>
            <a:r>
              <a:rPr sz="1400" b="0">
                <a:solidFill>
                  <a:srgbClr val="3A3A3A"/>
                </a:solidFill>
                <a:latin typeface="Arial"/>
              </a:rPr>
              <a:t>PostgreSQL pour l'analytique structurée, Cassandra pour le flux temps réel.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54480"/>
            <a:ext cx="3703320" cy="402336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783080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585F6"/>
                </a:solidFill>
                <a:latin typeface="Arial"/>
              </a:rPr>
              <a:t>events_by_type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PRIMARY KEY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Arial"/>
              </a:rPr>
              <a:t>(event_type,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Arial"/>
              </a:rPr>
              <a:t> event_time DESC,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EEEEE"/>
                </a:solidFill>
                <a:latin typeface="Arial"/>
              </a:rPr>
              <a:t> event_id)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1000F"/>
                </a:solidFill>
                <a:latin typeface="Arial"/>
              </a:rPr>
              <a:t>TTL 7 jours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Arial"/>
              </a:rPr>
              <a:t>RF = 1 · SimpleStrategy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C1.3 / C1.4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Data Lake, scalabilité &amp; résilience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C1.3 · Data Lake : </a:t>
            </a:r>
            <a:r>
              <a:rPr sz="1400" b="0">
                <a:solidFill>
                  <a:srgbClr val="3A3A3A"/>
                </a:solidFill>
                <a:latin typeface="Arial"/>
              </a:rPr>
              <a:t>stockage multivarié Bronze/Silver/Gold en Parquet (colonnaire, compressé) sur HDFS ; intégration de sources variées.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Indicateurs suivis : </a:t>
            </a:r>
            <a:r>
              <a:rPr sz="1400" b="0">
                <a:solidFill>
                  <a:srgbClr val="3A3A3A"/>
                </a:solidFill>
                <a:latin typeface="Arial"/>
              </a:rPr>
              <a:t>latence, débit, volumétrie · mesurés sur le benchmark PostgreSQL et le pipeline.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Sécurité &amp; protection : </a:t>
            </a:r>
            <a:r>
              <a:rPr sz="1400" b="0">
                <a:solidFill>
                  <a:srgbClr val="3A3A3A"/>
                </a:solidFill>
                <a:latin typeface="Arial"/>
              </a:rPr>
              <a:t>secrets via variables d'environnement (.env gitignored), CORS maîtrisé, données publiques anonymes.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6070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C1.4 · Scalabilité : </a:t>
            </a:r>
            <a:r>
              <a:rPr sz="1400" b="0">
                <a:solidFill>
                  <a:srgbClr val="3A3A3A"/>
                </a:solidFill>
                <a:latin typeface="Arial"/>
              </a:rPr>
              <a:t>architecture conteneurisée Docker Compose (11 services), profils activables (streaming, lake).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Haute disponibilité : </a:t>
            </a:r>
            <a:r>
              <a:rPr sz="1400" b="0">
                <a:solidFill>
                  <a:srgbClr val="3A3A3A"/>
                </a:solidFill>
                <a:latin typeface="Arial"/>
              </a:rPr>
              <a:t>Zookeeper + Kafka, Hadoop namenode/datanode, Hive metastore.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Résilience : </a:t>
            </a:r>
            <a:r>
              <a:rPr sz="1400" b="0">
                <a:solidFill>
                  <a:srgbClr val="3A3A3A"/>
                </a:solidFill>
                <a:latin typeface="Arial"/>
              </a:rPr>
              <a:t>mode local-first hors ligne (Parquet + fallback) garantissant la continuité même sans cluster.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C2.1 · API REST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FastAPI : exposition des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9436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Technologie adaptée : </a:t>
            </a:r>
            <a:r>
              <a:rPr sz="1300" b="0">
                <a:solidFill>
                  <a:srgbClr val="3A3A3A"/>
                </a:solidFill>
                <a:latin typeface="Arial"/>
              </a:rPr>
              <a:t>FastAPI (ASGI, Pydantic v2), documentation auto (Swagger /docs).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Routeurs métier : </a:t>
            </a:r>
            <a:r>
              <a:rPr sz="1300" b="0">
                <a:solidFill>
                  <a:srgbClr val="3A3A3A"/>
                </a:solidFill>
                <a:latin typeface="Arial"/>
              </a:rPr>
              <a:t>health, auth, catalog, datamarts, pipeline, events, repo.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Authentification JWT : </a:t>
            </a:r>
            <a:r>
              <a:rPr sz="1300" b="0">
                <a:solidFill>
                  <a:srgbClr val="3A3A3A"/>
                </a:solidFill>
                <a:latin typeface="Arial"/>
              </a:rPr>
              <a:t>OAuth2, rôles viewer / admin, jeton signé HS256 (60 min).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Autorisations &amp; quotas : </a:t>
            </a:r>
            <a:r>
              <a:rPr sz="1300" b="0">
                <a:solidFill>
                  <a:srgbClr val="3A3A3A"/>
                </a:solidFill>
                <a:latin typeface="Arial"/>
              </a:rPr>
              <a:t>route admin protégée ; limite par IP (anonyme 120, connecté 600 req/min → 429).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CORS restreint : </a:t>
            </a:r>
            <a:r>
              <a:rPr sz="1300" b="0">
                <a:solidFill>
                  <a:srgbClr val="3A3A3A"/>
                </a:solidFill>
                <a:latin typeface="Arial"/>
              </a:rPr>
              <a:t>à l'origine du frontend (variable UDE_CORS_ORIGINS).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481328"/>
            <a:ext cx="4572000" cy="444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de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1545336"/>
            <a:ext cx="3225094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C2.2 · STREAMING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Kafka : ingestion temps réel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Veille &amp; choix : </a:t>
            </a:r>
            <a:r>
              <a:rPr sz="1500" b="0">
                <a:solidFill>
                  <a:srgbClr val="3A3A3A"/>
                </a:solidFill>
                <a:latin typeface="Arial"/>
              </a:rPr>
              <a:t>Apache Kafka retenu pour le découplage producteur/consommateur et la tolérance aux pannes.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Producteur : </a:t>
            </a:r>
            <a:r>
              <a:rPr sz="1500" b="0">
                <a:solidFill>
                  <a:srgbClr val="3A3A3A"/>
                </a:solidFill>
                <a:latin typeface="Arial"/>
              </a:rPr>
              <a:t>publie les flux urbains (Vélib disponibilité, chantiers perturbants) au fil de l'eau.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Consommateur : </a:t>
            </a:r>
            <a:r>
              <a:rPr sz="1500" b="0">
                <a:solidFill>
                  <a:srgbClr val="3A3A3A"/>
                </a:solidFill>
                <a:latin typeface="Arial"/>
              </a:rPr>
              <a:t>lit le topic et écrit les snapshots dans Cassandra (events_by_type).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Micro-batch &amp; temps réel : </a:t>
            </a:r>
            <a:r>
              <a:rPr sz="1500" b="0">
                <a:solidFill>
                  <a:srgbClr val="3A3A3A"/>
                </a:solidFill>
                <a:latin typeface="Arial"/>
              </a:rPr>
              <a:t>traitement au fur et à mesure de la disponibilité, restitué dans le flux d'événements de l'interface.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Infrastructure : </a:t>
            </a:r>
            <a:r>
              <a:rPr sz="1500" b="0">
                <a:solidFill>
                  <a:srgbClr val="3A3A3A"/>
                </a:solidFill>
                <a:latin typeface="Arial"/>
              </a:rPr>
              <a:t>Zookeeper + Kafka orchestrés via le profil 'streaming' de Docker Compose.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C2.3 / C2.4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Transformation &amp; optimisation des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106070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C2.3 · Intégration : </a:t>
            </a:r>
            <a:r>
              <a:rPr sz="1400" b="0">
                <a:solidFill>
                  <a:srgbClr val="3A3A3A"/>
                </a:solidFill>
                <a:latin typeface="Arial"/>
              </a:rPr>
              <a:t>Polars normalise les codes (75101→75001), parse les geo_point, fusionne des sources hétérogènes.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Jointures spatiales : </a:t>
            </a:r>
            <a:r>
              <a:rPr sz="1400" b="0">
                <a:solidFill>
                  <a:srgbClr val="3A3A3A"/>
                </a:solidFill>
                <a:latin typeface="Arial"/>
              </a:rPr>
              <a:t>rattachement IRIS par point-in-polygon, puis agrégation multidimensionnelle par arrondissement.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Structuration analytique : </a:t>
            </a:r>
            <a:r>
              <a:rPr sz="1400" b="0">
                <a:solidFill>
                  <a:srgbClr val="3A3A3A"/>
                </a:solidFill>
                <a:latin typeface="Arial"/>
              </a:rPr>
              <a:t>datamarts Gold (dashboard + timeline 12 mois) prêts pour l'analyse.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6070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C2.4 · Performance : </a:t>
            </a:r>
            <a:r>
              <a:rPr sz="1400" b="0">
                <a:solidFill>
                  <a:srgbClr val="3A3A3A"/>
                </a:solidFill>
                <a:latin typeface="Arial"/>
              </a:rPr>
              <a:t>Parquet colonnaire compressé (Silver/Gold), moteur Polars vectorisé (Rust).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Accès rapide : </a:t>
            </a:r>
            <a:r>
              <a:rPr sz="1400" b="0">
                <a:solidFill>
                  <a:srgbClr val="3A3A3A"/>
                </a:solidFill>
                <a:latin typeface="Arial"/>
              </a:rPr>
              <a:t>index PostgreSQL → latence p95 &lt; 4 ms sous charge concurrente (10 threads).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Indicateurs de transfert : </a:t>
            </a:r>
            <a:r>
              <a:rPr sz="1400" b="0">
                <a:solidFill>
                  <a:srgbClr val="3A3A3A"/>
                </a:solidFill>
                <a:latin typeface="Arial"/>
              </a:rPr>
              <a:t>débit ~1 190 req/s mesuré, temps de run du pipeline suivi.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00091"/>
                </a:solidFill>
                <a:latin typeface="Arial"/>
              </a:rPr>
              <a:t>▪  </a:t>
            </a:r>
            <a:r>
              <a:rPr sz="1400" b="1">
                <a:solidFill>
                  <a:srgbClr val="161616"/>
                </a:solidFill>
                <a:latin typeface="Arial"/>
              </a:rPr>
              <a:t>Qualité : </a:t>
            </a:r>
            <a:r>
              <a:rPr sz="1400" b="0">
                <a:solidFill>
                  <a:srgbClr val="3A3A3A"/>
                </a:solidFill>
                <a:latin typeface="Arial"/>
              </a:rPr>
              <a:t>quality_flag garantissant des analyses exploitables.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RESTITUTION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Indicateurs Gold &amp; score de synthèse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3429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8288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Marché immobilier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Prix au m² réel &amp; ventes (DVF 2023)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645920"/>
            <a:ext cx="3429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Logement social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Part (%) &amp; nombre de logements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4424" y="1645920"/>
            <a:ext cx="3429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4424" y="1645920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82880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Revenus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Revenu médian réel (INSEE Filosofi)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01568"/>
            <a:ext cx="3429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01568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58444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Accessibilité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m² achetables / an de revenu (prix ÷ revenu)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3401568"/>
            <a:ext cx="34290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3401568"/>
            <a:ext cx="73152" cy="15544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58444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61616"/>
                </a:solidFill>
                <a:latin typeface="Arial"/>
              </a:rPr>
              <a:t>Cadre de vie &amp; env.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A3A3A"/>
                </a:solidFill>
                <a:latin typeface="Arial"/>
              </a:rPr>
              <a:t>Transports, équipements, espaces verts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3401568"/>
            <a:ext cx="3429000" cy="1554480"/>
          </a:xfrm>
          <a:prstGeom prst="rect">
            <a:avLst/>
          </a:prstGeom>
          <a:solidFill>
            <a:srgbClr val="000091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64424" y="3401568"/>
            <a:ext cx="73152" cy="155448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3584448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Score global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EEEEE"/>
                </a:solidFill>
                <a:latin typeface="Arial"/>
              </a:rPr>
              <a:t>Moyenne des indices 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INTERFACE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Dashboard cartographique aux codes DSFR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de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6876288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645920"/>
            <a:ext cx="35661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Charte DSFR : </a:t>
            </a:r>
            <a:r>
              <a:rPr sz="1300" b="0">
                <a:solidFill>
                  <a:srgbClr val="3A3A3A"/>
                </a:solidFill>
                <a:latin typeface="Arial"/>
              </a:rPr>
              <a:t>Marianne, bleu France, rouge Marianne.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Fond IGN : </a:t>
            </a:r>
            <a:r>
              <a:rPr sz="1300" b="0">
                <a:solidFill>
                  <a:srgbClr val="3A3A3A"/>
                </a:solidFill>
                <a:latin typeface="Arial"/>
              </a:rPr>
              <a:t>tuiles Géoplateforme officielles.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5 granularités : </a:t>
            </a:r>
            <a:r>
              <a:rPr sz="1300" b="0">
                <a:solidFill>
                  <a:srgbClr val="3A3A3A"/>
                </a:solidFill>
                <a:latin typeface="Arial"/>
              </a:rPr>
              <a:t>ville → bâtiment.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Choroplèthe : </a:t>
            </a:r>
            <a:r>
              <a:rPr sz="1300" b="0">
                <a:solidFill>
                  <a:srgbClr val="3A3A3A"/>
                </a:solidFill>
                <a:latin typeface="Arial"/>
              </a:rPr>
              <a:t>échelle séquentielle bleu France.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Comparatif : </a:t>
            </a:r>
            <a:r>
              <a:rPr sz="1300" b="0">
                <a:solidFill>
                  <a:srgbClr val="3A3A3A"/>
                </a:solidFill>
                <a:latin typeface="Arial"/>
              </a:rPr>
              <a:t>2 arrondissements côte à côte.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INTERFACE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Thème sombre &amp; accessibilité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de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6876288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645920"/>
            <a:ext cx="3566160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Thème sombre DSFR : </a:t>
            </a:r>
            <a:r>
              <a:rPr sz="1300" b="0">
                <a:solidFill>
                  <a:srgbClr val="3A3A3A"/>
                </a:solidFill>
                <a:latin typeface="Arial"/>
              </a:rPr>
              <a:t>bascule clair/sombre persistante.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Contraste : </a:t>
            </a:r>
            <a:r>
              <a:rPr sz="1300" b="0">
                <a:solidFill>
                  <a:srgbClr val="3A3A3A"/>
                </a:solidFill>
                <a:latin typeface="Arial"/>
              </a:rPr>
              <a:t>conforme WCAG AA (rouge texte #CE0500).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Focus visibles </a:t>
            </a:r>
            <a:r>
              <a:rPr sz="1300" b="0">
                <a:solidFill>
                  <a:srgbClr val="3A3A3A"/>
                </a:solidFill>
                <a:latin typeface="Arial"/>
              </a:rPr>
              <a:t>&amp; labels ARIA sur les contrôles.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Mouvement réduit : </a:t>
            </a:r>
            <a:r>
              <a:rPr sz="1300" b="0">
                <a:solidFill>
                  <a:srgbClr val="3A3A3A"/>
                </a:solidFill>
                <a:latin typeface="Arial"/>
              </a:rPr>
              <a:t>prefers-reduced-motion respecté.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00091"/>
                </a:solidFill>
                <a:latin typeface="Arial"/>
              </a:rPr>
              <a:t>▪  </a:t>
            </a:r>
            <a:r>
              <a:rPr sz="1300" b="1">
                <a:solidFill>
                  <a:srgbClr val="161616"/>
                </a:solidFill>
                <a:latin typeface="Arial"/>
              </a:rPr>
              <a:t>Chiffres tabulaires </a:t>
            </a:r>
            <a:r>
              <a:rPr sz="1300" b="0">
                <a:solidFill>
                  <a:srgbClr val="3A3A3A"/>
                </a:solidFill>
                <a:latin typeface="Arial"/>
              </a:rPr>
              <a:t>pour les données alignées.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82296" cy="566928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66666"/>
                </a:solidFill>
                <a:latin typeface="Arial"/>
              </a:rPr>
              <a:t>CONFORMITÉ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1616"/>
                </a:solidFill>
                <a:latin typeface="Arial"/>
              </a:rPr>
              <a:t>Couverture de la grille RNCP40875 · Bloc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60704"/>
            <a:ext cx="10607040" cy="177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54480"/>
          <a:ext cx="1060704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58952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Compétence</a:t>
                      </a:r>
                    </a:p>
                  </a:txBody>
                  <a:tcPr marL="101600" marR="76200" marT="38100" marB="38100" anchor="ctr"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Preuve dans le projet</a:t>
                      </a:r>
                    </a:p>
                  </a:txBody>
                  <a:tcPr marL="101600" marR="76200" marT="38100" marB="38100" anchor="ctr">
                    <a:solidFill>
                      <a:srgbClr val="00009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C1.1 Relationnel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Schéma étoile PostgreSQL + tests de charge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C1.2 NoSQL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Cassandra events_by_type, TTL 7 j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C1.3 Data Lake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Bronze/Silver/Gold Parquet sur HDFS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C1.4 Scalabilité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Docker Compose 11 services, local-first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C2.1 API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FastAPI /docs + auth JWT (rôles) + quotas par IP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C2.2 Streaming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Producteur/consommateur Kafka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C2.3 Transformation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Polars + sources réelles DVF / INSEE Filosofi</a:t>
                      </a:r>
                    </a:p>
                  </a:txBody>
                  <a:tcPr marL="101600" marR="76200"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91"/>
                          </a:solidFill>
                          <a:latin typeface="Arial"/>
                        </a:rPr>
                        <a:t>C2.4 Optimisation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A3A3A"/>
                          </a:solidFill>
                          <a:latin typeface="Arial"/>
                        </a:rPr>
                        <a:t>Parquet, index, p95 &lt; 4 ms, qualité tracée</a:t>
                      </a:r>
                    </a:p>
                  </a:txBody>
                  <a:tcPr marL="101600" marR="76200" marT="38100" marB="3810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Urban Data Explorer · RNCP40875 Bloc 1 · Adam Beloucif &amp; Émilien Morice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000091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640080"/>
            <a:ext cx="164592" cy="4572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640080"/>
            <a:ext cx="164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6424" y="640080"/>
            <a:ext cx="164592" cy="45720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4241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Solution complète : </a:t>
            </a:r>
            <a:r>
              <a:rPr sz="1500" b="0">
                <a:solidFill>
                  <a:srgbClr val="EEEEEE"/>
                </a:solidFill>
                <a:latin typeface="Arial"/>
              </a:rPr>
              <a:t>ingestion → stockage SQL/NoSQL/Lake → API → restitution cartographique, couvrant C1.1 à C2.4.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Robuste : </a:t>
            </a:r>
            <a:r>
              <a:rPr sz="1500" b="0">
                <a:solidFill>
                  <a:srgbClr val="EEEEEE"/>
                </a:solidFill>
                <a:latin typeface="Arial"/>
              </a:rPr>
              <a:t>fonctionne en local-first hors ligne comme en mode distribué conteneurisé.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Soignée : </a:t>
            </a:r>
            <a:r>
              <a:rPr sz="1500" b="0">
                <a:solidFill>
                  <a:srgbClr val="EEEEEE"/>
                </a:solidFill>
                <a:latin typeface="Arial"/>
              </a:rPr>
              <a:t>interface aux standards de l'État (DSFR), accessible et bilingue données live / offline.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00091"/>
                </a:solidFill>
                <a:latin typeface="Arial"/>
              </a:rPr>
              <a:t>▪  </a:t>
            </a:r>
            <a:r>
              <a:rPr sz="1500" b="1">
                <a:solidFill>
                  <a:srgbClr val="161616"/>
                </a:solidFill>
                <a:latin typeface="Arial"/>
              </a:rPr>
              <a:t>Perspectives : </a:t>
            </a:r>
            <a:r>
              <a:rPr sz="1500" b="0">
                <a:solidFill>
                  <a:srgbClr val="EEEEEE"/>
                </a:solidFill>
                <a:latin typeface="Arial"/>
              </a:rPr>
              <a:t>authentification JWT active, branchement DVF/INSEE réels, déploiement cloud, alerting.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Merci de votre attention · questions bienvenues.</a:t>
            </a:r>
          </a:p>
        </p:txBody>
      </p:sp>
      <p:pic>
        <p:nvPicPr>
          <p:cNvPr id="10" name="Picture 9" descr="efre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5897880"/>
            <a:ext cx="2011680" cy="1006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